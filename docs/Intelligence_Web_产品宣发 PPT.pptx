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4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6858000" y="36576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86000" y="1097280"/>
            <a:ext cx="4572000" cy="254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00400" y="5943600"/>
            <a:ext cx="2743200" cy="254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48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Intelligence Web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1A56D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企业情报智能管理平台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40480" y="3840480"/>
            <a:ext cx="1463040" cy="254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5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从情报采集到行动闭环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让每一个决策都有据可依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0" y="539496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开源免费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539496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AI 驱动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35040" y="539496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56D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容器化部署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rPr>
                <a:latin typeface="黑体" charset="0"/>
                <a:ea typeface="黑体" charset="0"/>
              </a:rPr>
              <a:t>1/18</a:t>
            </a:r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我们正处在一个信息就是竞争力的时代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2/18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▸ 全球商业环境变化速度加快，竞争对手的动作从"月级"缩短到"天级"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▸ 企业每年在信息采集上投入大量人力，但 90% 的信息被淹没、遗忘或被竞争对手捷足先登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▸ 传统的信息搜集方式：碎片化、被动式、依赖个人经验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▸ 市场空白：缺乏一套系统化的平台，把"散落的线索"变成"可行动的洞察"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0" y="371856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0" y="38557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59E0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关键数据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4312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  <a:latin typeface="Arial" panose="020B0604020202090204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90%</a:t>
            </a:r>
            <a:endParaRPr>
              <a:latin typeface="黑体" charset="0"/>
              <a:ea typeface="黑体" charset="0"/>
              <a:cs typeface="黑体" charset="0"/>
            </a:endParaRP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信息被淹没或遗忘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企业情报管理的三大顽疾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3/18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F59E0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01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信息孤岛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各部门各管一套，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重要情报反复丢失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1371600" cy="127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F59E0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错失机会 · 重复劳动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16459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EC4899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02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被动应对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3280" y="274320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竞争对手出手后才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反应过来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840480" y="4206240"/>
            <a:ext cx="1371600" cy="127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83280" y="4389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EC4899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永远慢半拍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0" y="1188720"/>
            <a:ext cx="26517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6480" y="164592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7C3AED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03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0" y="219456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决策靠直觉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274320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管理层拍板靠经验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和感觉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766560" y="4206240"/>
            <a:ext cx="1371600" cy="127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4389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7C3AED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高风险 · 事后才知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Intelligence Web 是什么？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4/18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8046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800" cy="146304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情报采集 → 结构化存储 → AI 分析 → 行动闭环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一体化平台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" y="301752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[搜索]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系统追踪行业动态、竞争对手动向、客户需求变化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和潜在商业机会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00400" y="301752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32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[大脑]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83280" y="361188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不再依赖碎片化信息搜集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3280" y="40233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和个人经验判断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26480" y="301752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[图表]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让每一个决策都有据可依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40233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数据驱动，而非直觉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920240" y="4846320"/>
            <a:ext cx="1188720" cy="41148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[采集]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08960" y="4864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383280" y="4846320"/>
            <a:ext cx="1188720" cy="41148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[存储]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0" y="4864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846320" y="4846320"/>
            <a:ext cx="1188720" cy="41148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[分析]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4864608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09360" y="4846320"/>
            <a:ext cx="1188720" cy="41148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[行动]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五大能力，覆盖情报管理全链路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5/18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[AI]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AI 智能分析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AI Agent 自动阅读、摘要、分析、留批注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人机协同知识积累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00400" y="118872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74720" y="128016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[搜索]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3280" y="1874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多渠道采集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网站抓取、API 对接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按日/周/月灵活设定采集频率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0" y="1188720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128016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[图表]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数据看板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仪表盘统计、多维筛选排序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Meilisearch 毫秒级全文搜索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737360" y="3749039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011680" y="3840479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20240" y="402335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[目标]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20240" y="44348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商机管理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20240" y="4892039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从线索到成交的全生命周期追踪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销售域专属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663440" y="3749039"/>
            <a:ext cx="26517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937760" y="3840479"/>
            <a:ext cx="7315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0" y="402335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[齿轮]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46320" y="44348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系统管控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46320" y="4892039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RBAC 四级权限、审计日志</a:t>
            </a:r>
            <a:br>
              <a:rPr>
                <a:latin typeface="黑体" charset="0"/>
                <a:ea typeface="黑体" charset="0"/>
                <a:cs typeface="黑体" charset="0"/>
              </a:rPr>
            </a:br>
            <a:r>
              <a:rPr>
                <a:latin typeface="黑体" charset="0"/>
                <a:ea typeface="黑体" charset="0"/>
                <a:cs typeface="黑体" charset="0"/>
              </a:rPr>
              <a:t>通知中心、个性化配置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制造情报域 — "看见趋势"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6/18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9D58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核心数据流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74903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701800"/>
            <a:ext cx="3457575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 sz="1200">
                <a:latin typeface="黑体" charset="0"/>
                <a:ea typeface="黑体" charset="0"/>
                <a:cs typeface="黑体" charset="0"/>
              </a:rPr>
              <a:t>竞品发布新产品 → AI 5 分钟内捕获、摘要、推送预警</a:t>
            </a:r>
            <a:endParaRPr sz="1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374903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616200"/>
            <a:ext cx="3457575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 sz="1200">
                <a:latin typeface="黑体" charset="0"/>
                <a:ea typeface="黑体" charset="0"/>
                <a:cs typeface="黑体" charset="0"/>
              </a:rPr>
              <a:t>国家发布智能制造补贴政策 → 自动抓取、分析、标记关联度</a:t>
            </a:r>
            <a:endParaRPr sz="1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374903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38100" cy="2286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530600"/>
            <a:ext cx="3457575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 sz="1200">
                <a:latin typeface="黑体" charset="0"/>
                <a:ea typeface="黑体" charset="0"/>
                <a:cs typeface="黑体" charset="0"/>
              </a:rPr>
              <a:t>行业论坛讨论下一代工艺 → 实时追踪、归类、形成趋势报告</a:t>
            </a:r>
            <a:endParaRPr sz="1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46320" y="10972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9D58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价值体现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46320" y="164592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0" y="1774825"/>
            <a:ext cx="30734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 sz="1200">
                <a:latin typeface="黑体" charset="0"/>
                <a:ea typeface="黑体" charset="0"/>
                <a:cs typeface="黑体" charset="0"/>
              </a:rPr>
              <a:t> 实时监控竞品产品线调整和产能扩张计划</a:t>
            </a:r>
            <a:endParaRPr sz="1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46320" y="256032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0" y="2689225"/>
            <a:ext cx="30734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 sz="1200">
                <a:latin typeface="黑体" charset="0"/>
                <a:ea typeface="黑体" charset="0"/>
                <a:cs typeface="黑体" charset="0"/>
              </a:rPr>
              <a:t>预判下一代制造技术的商业化时间表</a:t>
            </a:r>
            <a:endParaRPr sz="1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46320" y="347472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0" y="3603625"/>
            <a:ext cx="30734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 sz="1200">
                <a:latin typeface="黑体" charset="0"/>
                <a:ea typeface="黑体" charset="0"/>
                <a:cs typeface="黑体" charset="0"/>
              </a:rPr>
              <a:t>从"事后追悔"到"事前预判"</a:t>
            </a:r>
            <a:endParaRPr sz="12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4937760"/>
            <a:ext cx="73152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0F9D58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看见趋势 · 看见未来 · 看见机会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6/18</a:t>
            </a:r>
          </a:p>
        </p:txBody>
      </p:sp>
      <p:pic>
        <p:nvPicPr>
          <p:cNvPr id="27" name="图片 26" descr="打勾正确标识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360" y="1831340"/>
            <a:ext cx="370840" cy="370840"/>
          </a:xfrm>
          <a:prstGeom prst="rect">
            <a:avLst/>
          </a:prstGeom>
        </p:spPr>
      </p:pic>
      <p:pic>
        <p:nvPicPr>
          <p:cNvPr id="28" name="图片 27" descr="打勾正确标识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360" y="2716530"/>
            <a:ext cx="370840" cy="370840"/>
          </a:xfrm>
          <a:prstGeom prst="rect">
            <a:avLst/>
          </a:prstGeom>
        </p:spPr>
      </p:pic>
      <p:pic>
        <p:nvPicPr>
          <p:cNvPr id="29" name="图片 28" descr="打勾正确标识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360" y="3649980"/>
            <a:ext cx="370840" cy="370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销售情报域 — "抓住机会"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7/18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[目标] 客户扩产预警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客户宣布扩产 → 第一时间触发跟进流程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83280" y="1600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[工厂] 竞对投资信号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竞争对手新建工厂前就被捕捉到投资信号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[趋势] 商机漏斗可视化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销售主管通过数据看板掌握团队商机漏斗健康度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6B7280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商机全生命周期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7160" y="3840480"/>
            <a:ext cx="1554480" cy="411480"/>
          </a:xfrm>
          <a:prstGeom prst="roundRect">
            <a:avLst>
              <a:gd name="adj" fmla="val 35000"/>
            </a:avLst>
          </a:prstGeom>
          <a:solidFill>
            <a:srgbClr val="9CA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待核实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91640" y="3822191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874519" y="3840480"/>
            <a:ext cx="1554480" cy="41148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合格商机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28999" y="3822191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11879" y="3840480"/>
            <a:ext cx="1554480" cy="411480"/>
          </a:xfrm>
          <a:prstGeom prst="roundRect">
            <a:avLst>
              <a:gd name="adj" fmla="val 35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方案报价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59" y="3822191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349240" y="3840480"/>
            <a:ext cx="1554480" cy="411480"/>
          </a:xfrm>
          <a:prstGeom prst="roundRect">
            <a:avLst>
              <a:gd name="adj" fmla="val 35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商务谈判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03720" y="3822191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9CA1AB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</a:rPr>
              <a:t>-&gt;</a:t>
            </a:r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086600" y="3840480"/>
            <a:ext cx="1554480" cy="4114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2937"/>
                </a:solidFill>
                <a:latin typeface="黑体"/>
              </a:defRPr>
            </a:pPr>
            <a:r>
              <a:rPr>
                <a:latin typeface="黑体" charset="0"/>
                <a:ea typeface="黑体" charset="0"/>
                <a:cs typeface="黑体" charset="0"/>
              </a:rPr>
              <a:t>成交/丢标</a:t>
            </a:r>
            <a:endParaRPr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"共享内核 + 任意域扩展"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8/18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80467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800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C3AED"/>
                </a:solidFill>
                <a:latin typeface="黑体"/>
              </a:defRPr>
            </a:pPr>
            <a:r>
              <a:t>平台不设固定的业务边界，客户需要什么领域，就搭建什么领域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F9D58"/>
                </a:solidFill>
                <a:latin typeface="黑体"/>
              </a:defRPr>
            </a:pPr>
            <a:r>
              <a:t>已验证领域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t>[ok] 制造情报</a:t>
            </a:r>
            <a:br/>
            <a:r>
              <a:t>"看见趋势"</a:t>
            </a:r>
            <a:br/>
            <a:br/>
            <a:r>
              <a:t>[ok] 销售情报</a:t>
            </a:r>
            <a:br/>
            <a:r>
              <a:t>"抓住机会"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A56DB"/>
                </a:solidFill>
                <a:latin typeface="黑体"/>
              </a:defRPr>
            </a:pPr>
            <a:r>
              <a:t>可快速扩展领域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[链接] 供应链管理 — 寻源、评估、批准、监控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54679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[文档] 知识产权监控 — 专利追踪、侵权预警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749039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[银行] 金融市场追踪 — 投融资动态、并购重组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43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[人群] 人力资源情报 — 竞对人事变动、人才流动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60"/>
            <a:ext cx="64008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9834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F9D58"/>
                </a:solidFill>
                <a:latin typeface="黑体"/>
              </a:defRPr>
            </a:pPr>
            <a:r>
              <a:t>一份配置文件 + 一个前端模板 → 数天内上线新域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为 IT 负责人准备的架构透明度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9/18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7223760" cy="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40080"/>
                <a:gridCol w="237744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服务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端口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技术栈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角色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Research API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8766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Flask + Python 3.11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制造情报业务引擎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Sales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8767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Gunicorn + Python 3.11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销售情报业务引擎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Gateway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8765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Nginx Alpine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反向代理 + JWT 鉴权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Meilisearch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7700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Meilisearch v1.12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全文检索引擎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891B2"/>
                </a:solidFill>
                <a:latin typeface="黑体"/>
              </a:defRPr>
            </a:pPr>
            <a:r>
              <a:t>关键架构原则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[共享] 共享内核 — 所有业务域通过 Docker Volume 挂载同一 core/ 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[分离] 分离领域 — 各域数据完全隔离，通过 SQLite 独立文件实现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[接口] MCP Server — 18 个工具方法，AI Agent 通过标准化协议直接访问数据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[轻量] 零外部数据库依赖 — 除 Meilisearch 外无需任何额外服务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"轻"而不"薄"的技术底座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10/18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8046720" cy="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传统方案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Intelligence Web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Oracle/PostgreSQL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年费 10-50 万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SQLite 单文件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零许可费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运维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专职 DBA + DevOps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年成本 30-60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容器化一键部署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无需专人运维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框架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React/Angular 企业版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BI 工具许可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Vanilla JS + Flask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全部开源免费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部署周期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数周至数月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docker compose up -d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分钟级上线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扩展性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改代码、重新部署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测试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配置文件 + 前端模板</a:t>
                      </a:r>
                    </a:p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数天上线新域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120640"/>
            <a:ext cx="73152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F9D58"/>
                </a:solidFill>
                <a:latin typeface="黑体"/>
              </a:defRPr>
            </a:pPr>
            <a:r>
              <a:t>你不需要再养一个团队来维护这套系统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不是工具，是协作伙伴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11/18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" y="118872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371600"/>
            <a:ext cx="1234440" cy="254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60020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t>[AI] AI Agent</a:t>
            </a:r>
            <a:br/>
            <a:r>
              <a:t>每日自动巡检</a:t>
            </a:r>
            <a:br/>
            <a:r>
              <a:t>指定数据源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002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A56DB"/>
                </a:solidFill>
                <a:latin typeface="黑体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18872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57399" y="1371600"/>
            <a:ext cx="1234440" cy="254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59" y="160020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t>[分析] AI 对采集内容</a:t>
            </a:r>
            <a:br/>
            <a:r>
              <a:t>进行初步分析</a:t>
            </a:r>
            <a:br/>
            <a:r>
              <a:t>和归类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6002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891B2"/>
                </a:solidFill>
                <a:latin typeface="黑体"/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18872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0" y="1371600"/>
            <a:ext cx="1234440" cy="25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160020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t>[建议] AI 在每条情报下</a:t>
            </a:r>
            <a:br/>
            <a:r>
              <a:t>留下观察和</a:t>
            </a:r>
            <a:br/>
            <a:r>
              <a:t>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6002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7C3AED"/>
                </a:solidFill>
                <a:latin typeface="黑体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79" y="118872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59" y="1371600"/>
            <a:ext cx="1234440" cy="254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19" y="160020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t>[决策] 人类员工</a:t>
            </a:r>
            <a:br/>
            <a:r>
              <a:t>做出最终判断</a:t>
            </a:r>
            <a:br/>
            <a:r>
              <a:t>和行动决策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39" y="16002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0F9D58"/>
                </a:solidFill>
                <a:latin typeface="黑体"/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59" y="118872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39" y="1371600"/>
            <a:ext cx="1234440" cy="25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9" y="1600200"/>
            <a:ext cx="1417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1F2937"/>
                </a:solidFill>
                <a:latin typeface="黑体"/>
              </a:defRPr>
            </a:pPr>
            <a:r>
              <a:t>[反馈] 人类反馈</a:t>
            </a:r>
            <a:br/>
            <a:r>
              <a:t>反哺 AI，持续</a:t>
            </a:r>
            <a:br/>
            <a:r>
              <a:t>提升精度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926080"/>
            <a:ext cx="8046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00400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t>[dot] 这不是一个"录入工具"，是让人类和 AI Agent 共同工作的平台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49039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t>[dot] 每一次人工反馈都在训练 AI，形成正向飞轮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97680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F2937"/>
                </a:solidFill>
                <a:latin typeface="黑体"/>
              </a:defRPr>
            </a:pPr>
            <a:r>
              <a:t>[dot] 18 个 MCP 工具方法，支持 Claude / Hermes / OpenClaw 等多 Agent 接入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企业级安全，从第一天就内置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12/18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88720"/>
          <a:ext cx="7315200" cy="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安全维度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实现方式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认证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JWT Bearer Token（HS256），密码 SHA-256 + 随机盐存储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密钥保护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API Key / Agent Key 落地 XOR 混淆，API 响应中脱敏为 ***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CORS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环境变量严格白名单控制允许来源域名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RBAC 权限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Admin / Manager / Analyst / Viewer 四级角色，精细到菜单级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审计日志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所有变更操作记录操作人身份和时间戳，满足合规追溯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846320"/>
            <a:ext cx="73152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0F9D58"/>
                </a:solidFill>
                <a:latin typeface="黑体"/>
              </a:defRPr>
            </a:pPr>
            <a:r>
              <a:t>每一个操作都被记录 · 每一个密钥都被保护 · 每一次访问都有据可查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每一分钱，都能算得清楚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13/18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9D58"/>
                </a:solidFill>
                <a:latin typeface="黑体"/>
              </a:defRPr>
            </a:pPr>
            <a:r>
              <a:t>成本对比（年）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63040"/>
          <a:ext cx="7589520" cy="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920240"/>
                <a:gridCol w="246888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传统方案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Intelligence Web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0F9D5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数据库许可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10-50 万/年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0 元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运维人力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30-60 万/年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0 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省去 1 个全职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框架/工具许可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10-30 万/年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0 元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部署周期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数周至数月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分钟级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90%+ 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9D58"/>
                </a:solidFill>
                <a:latin typeface="黑体"/>
              </a:defRPr>
            </a:pPr>
            <a:r>
              <a:t>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9D58"/>
                </a:solidFill>
                <a:latin typeface="Arial" panose="020B0604020202090204"/>
              </a:defRPr>
            </a:pPr>
            <a:r>
              <a:t>10x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信息采集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44805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9D58"/>
                </a:solidFill>
                <a:latin typeface="Arial" panose="020B0604020202090204"/>
              </a:defRPr>
            </a:pPr>
            <a:r>
              <a:t>50x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情报分析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4805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9D58"/>
                </a:solidFill>
                <a:latin typeface="Arial" panose="020B0604020202090204"/>
              </a:defRPr>
            </a:pPr>
            <a:r>
              <a:t>100x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信息检索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999" y="44805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9D58"/>
                </a:solidFill>
                <a:latin typeface="Arial" panose="020B0604020202090204"/>
              </a:defRPr>
            </a:pPr>
            <a:r>
              <a:t>10x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商机响应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以中型企业销售团队为例，算一笔账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14/18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8046720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B7280"/>
                </a:solidFill>
                <a:latin typeface="黑体"/>
              </a:defRPr>
            </a:pPr>
            <a:r>
              <a:t>基准假设：一名年薪资 20 万的销售人员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9D58"/>
                </a:solidFill>
                <a:latin typeface="Arial" panose="020B0604020202090204"/>
              </a:defRPr>
            </a:pPr>
            <a:r>
              <a:t>1-3 个月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投资回报周期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10312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DB"/>
                </a:solidFill>
                <a:latin typeface="Arial" panose="020B0604020202090204"/>
              </a:defRPr>
            </a:pPr>
            <a:r>
              <a:t>50-100 万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年新增收入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210312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Arial" panose="020B0604020202090204"/>
              </a:defRPr>
            </a:pPr>
            <a:r>
              <a:t>0.5-1 个</a:t>
            </a:r>
          </a:p>
          <a:p>
            <a:pPr algn="ctr">
              <a:spcBef>
                <a:spcPts val="600"/>
              </a:spcBef>
              <a:defRPr sz="1500">
                <a:solidFill>
                  <a:srgbClr val="6B7280"/>
                </a:solidFill>
                <a:latin typeface="黑体"/>
              </a:defRPr>
            </a:pPr>
            <a:r>
              <a:t>全职人力释放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41696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人力释放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4860" y="41148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9724" y="41696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F2937"/>
                </a:solidFill>
                <a:latin typeface="黑体"/>
              </a:defRPr>
            </a:pPr>
            <a:r>
              <a:t>AI 替代 1-2 小时/天 → 相当于 0.5-1 个全职人力释放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6268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新增商机收入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4860" y="45720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9724" y="46268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F2937"/>
                </a:solidFill>
                <a:latin typeface="黑体"/>
              </a:defRPr>
            </a:pPr>
            <a:r>
              <a:t>转化率提升 20% + 销售周期缩短 20% → 额外 50-100 万年收入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50840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系统部署成本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4860" y="50292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9724" y="50840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F2937"/>
                </a:solidFill>
                <a:latin typeface="黑体"/>
              </a:defRPr>
            </a:pPr>
            <a:r>
              <a:t>几乎为零（开源 + 自有服务器）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864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55412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投资回报周期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4860" y="5486400"/>
            <a:ext cx="4000500" cy="384048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9724" y="5541264"/>
            <a:ext cx="38907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F2937"/>
                </a:solidFill>
                <a:latin typeface="黑体"/>
              </a:defRPr>
            </a:pPr>
            <a:r>
              <a:t>1-3 个月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0F9D58"/>
                </a:solidFill>
                <a:latin typeface="黑体"/>
              </a:defRPr>
            </a:pPr>
            <a:r>
              <a:t>这不是一个成本中心，这是一个收入引擎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为谁而建？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15/18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188720"/>
            <a:ext cx="26517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t>一线销售/商务经理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比竞对更快知道客户在哪</a:t>
            </a:r>
            <a:br/>
            <a:r>
              <a:t>需求是什么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1A56DB"/>
                </a:solidFill>
                <a:latin typeface="黑体"/>
              </a:defRPr>
            </a:pPr>
            <a:r>
              <a:t>[箭头]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749039"/>
            <a:ext cx="2468880" cy="109728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黑体"/>
              </a:defRPr>
            </a:pPr>
            <a:r>
              <a:t>自动预警 + 客户画像 + 商机全追踪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188720"/>
            <a:ext cx="26517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t>市场研究/战略规划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1031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持续扫描行业全貌</a:t>
            </a:r>
            <a:br/>
            <a:r>
              <a:t>形成可指导决策的报告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91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891B2"/>
                </a:solidFill>
                <a:latin typeface="黑体"/>
              </a:defRPr>
            </a:pPr>
            <a:r>
              <a:t>[箭头]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749039"/>
            <a:ext cx="2468880" cy="1097280"/>
          </a:xfrm>
          <a:prstGeom prst="roundRect">
            <a:avLst>
              <a:gd name="adj" fmla="val 35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黑体"/>
              </a:defRPr>
            </a:pPr>
            <a:r>
              <a:t>多渠道采集 + AI 分析 + 趋势可视化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188720"/>
            <a:ext cx="265176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2937"/>
                </a:solidFill>
                <a:latin typeface="黑体"/>
              </a:defRPr>
            </a:pPr>
            <a:r>
              <a:t>企业管理者/决策层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0312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6B7280"/>
                </a:solidFill>
                <a:latin typeface="黑体"/>
              </a:defRPr>
            </a:pPr>
            <a:r>
              <a:t>一眼看清整体状况</a:t>
            </a:r>
            <a:br/>
            <a:r>
              <a:t>不做凭感觉的赌局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918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F9D58"/>
                </a:solidFill>
                <a:latin typeface="黑体"/>
              </a:defRPr>
            </a:pPr>
            <a:r>
              <a:t>[箭头]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49039"/>
            <a:ext cx="2468880" cy="1097280"/>
          </a:xfrm>
          <a:prstGeom prst="roundRect">
            <a:avLst>
              <a:gd name="adj" fmla="val 35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黑体"/>
              </a:defRPr>
            </a:pPr>
            <a:r>
              <a:t>数据看板 + AI 摘要 + 组织级公共资产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9CA1AB"/>
                </a:solidFill>
                <a:latin typeface="黑体"/>
              </a:defRPr>
            </a:pPr>
            <a:r>
              <a:t>不是给所有人的万能工具 — 是为情报驱动决策的团队量身定制的效率倍增器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为什么不是 CRM？不是 OA？不是 Excel？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16/18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188720"/>
          <a:ext cx="7863840" cy="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554480"/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通用 CRM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OA 系统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Excel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Intelligence Web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客户关系管理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办公流程管理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临时记录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企业情报智能管理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信息采集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AI 自动采集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AI 分析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[x]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AI Agent 分析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多域扩展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固定模块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固定模块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手动搭建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数天上线新域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部署成本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百万级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十万级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几乎为零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情报深度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F2937"/>
                          </a:solidFill>
                          <a:latin typeface="黑体"/>
                        </a:defRPr>
                      </a:pPr>
                      <a:r>
                        <a:t>深（全链路）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46320"/>
            <a:ext cx="80467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50800" cy="82296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A56DB"/>
                </a:solidFill>
                <a:latin typeface="黑体"/>
              </a:defRPr>
            </a:pPr>
            <a:r>
              <a:t>Intelligence Web 只做一件事：帮企业把散落在各处的情报变成可行动的洞察。为此做了极深的垂直打磨。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943600"/>
            <a:ext cx="1828800" cy="1828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F2937"/>
                </a:solidFill>
                <a:latin typeface="黑体"/>
              </a:defRPr>
            </a:pPr>
            <a:r>
              <a:t>最快数分钟，启动您的企业情报系统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77724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17/18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1A56DB"/>
                </a:solidFill>
                <a:latin typeface="黑体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56DB"/>
                </a:solidFill>
                <a:latin typeface="黑体"/>
              </a:defRPr>
            </a:pPr>
            <a:r>
              <a:t>docker compose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t>一条命令启动全部服务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0116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9CA1AB"/>
                </a:solidFill>
                <a:latin typeface="黑体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F9D58"/>
                </a:solidFill>
                <a:latin typeface="黑体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574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56DB"/>
                </a:solidFill>
                <a:latin typeface="黑体"/>
              </a:defRPr>
            </a:pPr>
            <a:r>
              <a:t>浏览器访问 :8765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t>登录，开始使用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116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9CA1AB"/>
                </a:solidFill>
                <a:latin typeface="黑体"/>
              </a:defRPr>
            </a:pPr>
            <a: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18872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1371600"/>
            <a:ext cx="731520" cy="381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45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891B2"/>
                </a:solidFill>
                <a:latin typeface="黑体"/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A56DB"/>
                </a:solidFill>
                <a:latin typeface="黑体"/>
              </a:defRPr>
            </a:pPr>
            <a:r>
              <a:t>配置数据源 + 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6B7280"/>
                </a:solidFill>
                <a:latin typeface="黑体"/>
              </a:defRPr>
            </a:pPr>
            <a:r>
              <a:t>开始自动采集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A56DB"/>
                </a:solidFill>
                <a:latin typeface="黑体"/>
              </a:defRPr>
            </a:pPr>
            <a:r>
              <a:t>开箱即用的能力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[ok] 15 个功能页面，即开即用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[ok] RBAC 权限体系，三级角色即刻生效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[ok] AI Agent 预设模板，配置即用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[ok] 暗色模式、响应式设计，现代用户体验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F2937"/>
                </a:solidFill>
                <a:latin typeface="黑体"/>
              </a:defRPr>
            </a:pPr>
            <a:r>
              <a:t>[ok] 新业务域：一份配置 + 一个模板 → 数天内上线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457200"/>
            <a:ext cx="6400800" cy="64008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41148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3657600" cy="254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6400800"/>
            <a:ext cx="1828800" cy="254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9144000" cy="508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1F2937"/>
                </a:solidFill>
                <a:latin typeface="黑体"/>
              </a:defRPr>
            </a:pPr>
            <a:r>
              <a:t>Intelligence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2000" b="0">
                <a:solidFill>
                  <a:srgbClr val="1A56DB"/>
                </a:solidFill>
                <a:latin typeface="黑体"/>
              </a:defRPr>
            </a:pPr>
            <a:r>
              <a:t>让情报成为您的核心竞争力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3474720"/>
            <a:ext cx="1463040" cy="2540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1F2937"/>
                </a:solidFill>
                <a:latin typeface="黑体"/>
              </a:defRPr>
            </a:pPr>
            <a:r>
              <a:t>[网络] 开源 · 免费 · 可私有化部署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1F2937"/>
                </a:solidFill>
                <a:latin typeface="黑体"/>
              </a:defRPr>
            </a:pPr>
            <a:r>
              <a:t>[AI] AI 驱动 · 人机协同 · 持续进化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480559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1F2937"/>
                </a:solidFill>
                <a:latin typeface="黑体"/>
              </a:defRPr>
            </a:pPr>
            <a:r>
              <a:t>[图表] 1-3 个月投资回报 · 100 万年新增收入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46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1F2937"/>
                </a:solidFill>
                <a:latin typeface="黑体"/>
              </a:defRPr>
            </a:pPr>
            <a:r>
              <a:t>[火箭] 一条命令启动 · 数天扩展新域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4864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5321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0F9D58"/>
                </a:solidFill>
                <a:latin typeface="黑体"/>
              </a:defRPr>
            </a:pPr>
            <a:r>
              <a:t>准备好让您的企业情报管理升级了吗？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6263640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9CA1AB"/>
                </a:solidFill>
                <a:latin typeface="黑体"/>
              </a:defRPr>
            </a:pPr>
            <a:r>
              <a:t>[官网]  [邮箱]  [电话]  [二维码]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92240"/>
            <a:ext cx="548640" cy="127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1AB"/>
                </a:solidFill>
                <a:latin typeface="Arial" panose="020B0604020202090204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84402&quot;,&quot;origin&quot;:0,&quot;type&quot;:&quot;icons&quot;,&quot;user&quot;:&quot;1594496879&quot;}"/>
</p:tagLst>
</file>

<file path=ppt/tags/tag2.xml><?xml version="1.0" encoding="utf-8"?>
<p:tagLst xmlns:p="http://schemas.openxmlformats.org/presentationml/2006/main">
  <p:tag name="KSO_DOCER_RESOURCE_TRACE_INFO" val="{&quot;id&quot;:&quot;21584402&quot;,&quot;origin&quot;:0,&quot;type&quot;:&quot;icons&quot;,&quot;user&quot;:&quot;1594496879&quot;}"/>
</p:tagLst>
</file>

<file path=ppt/tags/tag3.xml><?xml version="1.0" encoding="utf-8"?>
<p:tagLst xmlns:p="http://schemas.openxmlformats.org/presentationml/2006/main">
  <p:tag name="KSO_DOCER_RESOURCE_TRACE_INFO" val="{&quot;id&quot;:&quot;21584402&quot;,&quot;origin&quot;:0,&quot;type&quot;:&quot;icons&quot;,&quot;user&quot;:&quot;1594496879&quot;}"/>
</p:tagLst>
</file>

<file path=ppt/tags/tag4.xml><?xml version="1.0" encoding="utf-8"?>
<p:tagLst xmlns:p="http://schemas.openxmlformats.org/presentationml/2006/main">
  <p:tag name="resource_record_key" val="{&quot;10&quot;:[21584402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3670</Words>
  <Application>WPS 演示</Application>
  <PresentationFormat>On-screen Show (4:3)</PresentationFormat>
  <Paragraphs>658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Arial</vt:lpstr>
      <vt:lpstr>黑体</vt:lpstr>
      <vt:lpstr>汉仪中黑KW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黑体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智造执行内参</cp:lastModifiedBy>
  <cp:revision>3</cp:revision>
  <dcterms:created xsi:type="dcterms:W3CDTF">2026-07-23T17:55:34Z</dcterms:created>
  <dcterms:modified xsi:type="dcterms:W3CDTF">2026-07-23T17:55:34Z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EE94D4FBCA1BD2AE8355626A0A1BB9EF_42</vt:lpwstr>
  </property>
</Properties>
</file>