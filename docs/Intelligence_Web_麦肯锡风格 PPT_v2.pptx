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3500"/>
          </a:xfrm>
          <a:prstGeom prst="roundRect">
            <a:avLst>
              <a:gd name="adj" fmla="val 50000"/>
            </a:avLst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5200" b="1">
                <a:solidFill>
                  <a:srgbClr val="1A1A1A"/>
                </a:solidFill>
                <a:latin typeface="SimHei"/>
              </a:defRPr>
            </a:pPr>
            <a:r>
              <a:t>Intelligence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400" b="0">
                <a:solidFill>
                  <a:srgbClr val="1A56DB"/>
                </a:solidFill>
                <a:latin typeface="SimHei"/>
              </a:defRPr>
            </a:pPr>
            <a:r>
              <a:t>企业情报智能管理平台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4023360"/>
            <a:ext cx="1463040" cy="38100"/>
          </a:xfrm>
          <a:prstGeom prst="roundRect">
            <a:avLst>
              <a:gd name="adj" fmla="val 50000"/>
            </a:avLst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5D636E"/>
                </a:solidFill>
                <a:latin typeface="SimHei"/>
              </a:defRPr>
            </a:pPr>
            <a:r>
              <a:t>从情报采集到行动闭环</a:t>
            </a:r>
            <a:br/>
            <a:r>
              <a:t>让每一个决策都有据可依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5669280"/>
            <a:ext cx="1371600" cy="411480"/>
          </a:xfrm>
          <a:prstGeom prst="roundRect">
            <a:avLst>
              <a:gd name="adj" fmla="val 35000"/>
            </a:avLst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imHei"/>
              </a:defRPr>
            </a:pPr>
            <a:r>
              <a:t>开源免费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5669280"/>
            <a:ext cx="1371600" cy="411480"/>
          </a:xfrm>
          <a:prstGeom prst="roundRect">
            <a:avLst>
              <a:gd name="adj" fmla="val 35000"/>
            </a:avLst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imHei"/>
              </a:defRPr>
            </a:pPr>
            <a:r>
              <a:t>AI 驱动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5669280"/>
            <a:ext cx="1371600" cy="411480"/>
          </a:xfrm>
          <a:prstGeom prst="roundRect">
            <a:avLst>
              <a:gd name="adj" fmla="val 35000"/>
            </a:avLst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imHei"/>
              </a:defRPr>
            </a:pPr>
            <a:r>
              <a:t>容器化部署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0800"/>
          </a:xfrm>
          <a:prstGeom prst="roundRect">
            <a:avLst>
              <a:gd name="adj" fmla="val 50000"/>
            </a:avLst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1A1A"/>
                </a:solidFill>
                <a:latin typeface="SimHei"/>
              </a:defRPr>
            </a:pPr>
            <a:r>
              <a:t>执行摘要：信息即战力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2/18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13716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2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A1A1A"/>
                </a:solidFill>
                <a:latin typeface="SimHei"/>
              </a:defRPr>
            </a:pPr>
            <a:r>
              <a:t>企业每年在信息采集上投入大量人力，但 90% 的信息被淹没、遗忘或被竞争对手捷足先登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74320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2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731520" cy="50800"/>
          </a:xfrm>
          <a:prstGeom prst="roundRect">
            <a:avLst>
              <a:gd name="adj" fmla="val 50000"/>
            </a:avLst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002E5D"/>
                </a:solidFill>
                <a:latin typeface="SimHei"/>
              </a:defRPr>
            </a:pPr>
            <a:r>
              <a:t>[洞察]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1A1A"/>
                </a:solidFill>
                <a:latin typeface="SimHei"/>
              </a:defRPr>
            </a:pPr>
            <a:r>
              <a:t>信息孤岛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D636E"/>
                </a:solidFill>
                <a:latin typeface="SimHei"/>
              </a:defRPr>
            </a:pPr>
            <a:r>
              <a:t>各部门各管一套</a:t>
            </a:r>
            <a:br/>
            <a:r>
              <a:t>重要情报反复丢失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212080"/>
            <a:ext cx="1371600" cy="25400"/>
          </a:xfrm>
          <a:prstGeom prst="roundRect">
            <a:avLst>
              <a:gd name="adj" fmla="val 50000"/>
            </a:avLst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3949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002E5D"/>
                </a:solidFill>
                <a:latin typeface="SimHei"/>
              </a:defRPr>
            </a:pPr>
            <a:r>
              <a:t>错失商业机会</a:t>
            </a:r>
            <a:br/>
            <a:r>
              <a:t>重复劳动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274320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2926080"/>
            <a:ext cx="731520" cy="508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2004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C0392B"/>
                </a:solidFill>
                <a:latin typeface="SimHei"/>
              </a:defRPr>
            </a:pPr>
            <a:r>
              <a:t>[挑战]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74903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1A1A"/>
                </a:solidFill>
                <a:latin typeface="SimHei"/>
              </a:defRPr>
            </a:pPr>
            <a:r>
              <a:t>被动应对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29768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D636E"/>
                </a:solidFill>
                <a:latin typeface="SimHei"/>
              </a:defRPr>
            </a:pPr>
            <a:r>
              <a:t>竞争对手出手后才</a:t>
            </a:r>
            <a:br/>
            <a:r>
              <a:t>反应过来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5212080"/>
            <a:ext cx="1371600" cy="25400"/>
          </a:xfrm>
          <a:prstGeom prst="roundRect">
            <a:avLst>
              <a:gd name="adj" fmla="val 50000"/>
            </a:avLst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53949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C0392B"/>
                </a:solidFill>
                <a:latin typeface="SimHei"/>
              </a:defRPr>
            </a:pPr>
            <a:r>
              <a:t>永远慢半拍</a:t>
            </a:r>
            <a:br/>
            <a:r>
              <a:t>窗口期耗尽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74320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5D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2926080"/>
            <a:ext cx="731520" cy="50800"/>
          </a:xfrm>
          <a:prstGeom prst="roundRect">
            <a:avLst>
              <a:gd name="adj" fmla="val 50000"/>
            </a:avLst>
          </a:prstGeom>
          <a:solidFill>
            <a:srgbClr val="5D6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2004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5D636E"/>
                </a:solidFill>
                <a:latin typeface="SimHei"/>
              </a:defRPr>
            </a:pPr>
            <a:r>
              <a:t>[风险]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74903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1A1A"/>
                </a:solidFill>
                <a:latin typeface="SimHei"/>
              </a:defRPr>
            </a:pPr>
            <a:r>
              <a:t>决策靠直觉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29768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D636E"/>
                </a:solidFill>
                <a:latin typeface="SimHei"/>
              </a:defRPr>
            </a:pPr>
            <a:r>
              <a:t>管理层拍板靠经验</a:t>
            </a:r>
            <a:br/>
            <a:r>
              <a:t>和感觉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5212080"/>
            <a:ext cx="1371600" cy="25400"/>
          </a:xfrm>
          <a:prstGeom prst="roundRect">
            <a:avLst>
              <a:gd name="adj" fmla="val 50000"/>
            </a:avLst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53949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D636E"/>
                </a:solidFill>
                <a:latin typeface="SimHei"/>
              </a:defRPr>
            </a:pPr>
            <a:r>
              <a:t>高风险赌局</a:t>
            </a:r>
            <a:br/>
            <a:r>
              <a:t>事后才知对错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08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1A1A"/>
                </a:solidFill>
                <a:latin typeface="SimHei"/>
              </a:defRPr>
            </a:pPr>
            <a:r>
              <a:t>解决方案：Intelligence Web 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3/18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16459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63500" cy="164592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1A1A1A"/>
                </a:solidFill>
                <a:latin typeface="SimHei"/>
              </a:defRPr>
            </a:pPr>
            <a:r>
              <a:t>情报采集 → 结构化存储 → AI 分析 → 行动闭环</a:t>
            </a:r>
            <a:br/>
            <a:r>
              <a:t>一体化平台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3108960"/>
            <a:ext cx="2103120" cy="25603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3291840"/>
            <a:ext cx="640080" cy="508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35204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1A56DB"/>
                </a:solidFill>
                <a:latin typeface="SimHei"/>
              </a:defRPr>
            </a:pPr>
            <a:r>
              <a:t>[AI]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0233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1A1A"/>
                </a:solidFill>
                <a:latin typeface="SimHei"/>
              </a:defRPr>
            </a:pPr>
            <a:r>
              <a:t>AI 智能分析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52628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D636E"/>
                </a:solidFill>
                <a:latin typeface="SimHei"/>
              </a:defRPr>
            </a:pPr>
            <a:r>
              <a:t>自动阅读、摘要、分析、留批注</a:t>
            </a:r>
            <a:br/>
            <a:r>
              <a:t>人机协同知识积累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3108960"/>
            <a:ext cx="2103120" cy="25603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97480" y="3291840"/>
            <a:ext cx="640080" cy="50800"/>
          </a:xfrm>
          <a:prstGeom prst="roundRect">
            <a:avLst>
              <a:gd name="adj" fmla="val 50000"/>
            </a:avLst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35204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00A39D"/>
                </a:solidFill>
                <a:latin typeface="SimHei"/>
              </a:defRPr>
            </a:pPr>
            <a:r>
              <a:t>[搜索]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0233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1A1A"/>
                </a:solidFill>
                <a:latin typeface="SimHei"/>
              </a:defRPr>
            </a:pPr>
            <a:r>
              <a:t>多渠道采集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52628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D636E"/>
                </a:solidFill>
                <a:latin typeface="SimHei"/>
              </a:defRPr>
            </a:pPr>
            <a:r>
              <a:t>网站抓取、API 对接</a:t>
            </a:r>
            <a:br/>
            <a:r>
              <a:t>按日/周/月灵活设定频率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3108960"/>
            <a:ext cx="2103120" cy="25603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83480" y="3291840"/>
            <a:ext cx="640080" cy="50800"/>
          </a:xfrm>
          <a:prstGeom prst="roundRect">
            <a:avLst>
              <a:gd name="adj" fmla="val 50000"/>
            </a:avLst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35204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002E5D"/>
                </a:solidFill>
                <a:latin typeface="SimHei"/>
              </a:defRPr>
            </a:pPr>
            <a:r>
              <a:t>[图表]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0233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1A1A"/>
                </a:solidFill>
                <a:latin typeface="SimHei"/>
              </a:defRPr>
            </a:pPr>
            <a:r>
              <a:t>数据看板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52628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D636E"/>
                </a:solidFill>
                <a:latin typeface="SimHei"/>
              </a:defRPr>
            </a:pPr>
            <a:r>
              <a:t>仪表盘统计、多维筛选</a:t>
            </a:r>
            <a:br/>
            <a:r>
              <a:t>毫秒级全文搜索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3108960"/>
            <a:ext cx="2103120" cy="25603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69480" y="3291840"/>
            <a:ext cx="640080" cy="508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35204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C0392B"/>
                </a:solidFill>
                <a:latin typeface="SimHei"/>
              </a:defRPr>
            </a:pPr>
            <a:r>
              <a:t>[目标]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0233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1A1A"/>
                </a:solidFill>
                <a:latin typeface="SimHei"/>
              </a:defRPr>
            </a:pPr>
            <a:r>
              <a:t>商机管理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52628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D636E"/>
                </a:solidFill>
                <a:latin typeface="SimHei"/>
              </a:defRPr>
            </a:pPr>
            <a:r>
              <a:t>从线索到成交的全生命周期追踪</a:t>
            </a:r>
            <a:br/>
            <a:r>
              <a:t>销售域专属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0800"/>
          </a:xfrm>
          <a:prstGeom prst="roundRect">
            <a:avLst>
              <a:gd name="adj" fmla="val 50000"/>
            </a:avLst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1A1A"/>
                </a:solidFill>
                <a:latin typeface="SimHei"/>
              </a:defRPr>
            </a:pPr>
            <a:r>
              <a:t>核心价值：效率提升分析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4/18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097280"/>
            <a:ext cx="2103120" cy="2286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A56DB"/>
                </a:solidFill>
                <a:latin typeface="Arial"/>
              </a:defRPr>
            </a:pPr>
            <a:r>
              <a:t>10x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A1A1A"/>
                </a:solidFill>
                <a:latin typeface="SimHei"/>
              </a:defRPr>
            </a:pPr>
            <a:r>
              <a:t>信息采集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83464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5D636E"/>
                </a:solidFill>
                <a:latin typeface="SimHei"/>
              </a:defRPr>
            </a:pPr>
            <a:r>
              <a:t>AI 自动采集替代人工</a:t>
            </a:r>
            <a:br/>
            <a:r>
              <a:t>每日 1-2 小时解放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097280"/>
            <a:ext cx="2103120" cy="2286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2801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A39D"/>
                </a:solidFill>
                <a:latin typeface="Arial"/>
              </a:defRPr>
            </a:pPr>
            <a:r>
              <a:t>50x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37744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A1A1A"/>
                </a:solidFill>
                <a:latin typeface="SimHei"/>
              </a:defRPr>
            </a:pPr>
            <a:r>
              <a:t>情报分析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83464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5D636E"/>
                </a:solidFill>
                <a:latin typeface="SimHei"/>
              </a:defRPr>
            </a:pPr>
            <a:r>
              <a:t>AI 秒级完成人工</a:t>
            </a:r>
            <a:br/>
            <a:r>
              <a:t>15 分钟摘要工作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097280"/>
            <a:ext cx="2103120" cy="2286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2801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2E5D"/>
                </a:solidFill>
                <a:latin typeface="Arial"/>
              </a:defRPr>
            </a:pPr>
            <a:r>
              <a:t>100x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7744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A1A1A"/>
                </a:solidFill>
                <a:latin typeface="SimHei"/>
              </a:defRPr>
            </a:pPr>
            <a:r>
              <a:t>信息检索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83464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5D636E"/>
                </a:solidFill>
                <a:latin typeface="SimHei"/>
              </a:defRPr>
            </a:pPr>
            <a:r>
              <a:t>毫秒级全文搜索</a:t>
            </a:r>
            <a:br/>
            <a:r>
              <a:t>中英文混合检索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1097280"/>
            <a:ext cx="2103120" cy="2286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2801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C0392B"/>
                </a:solidFill>
                <a:latin typeface="Arial"/>
              </a:defRPr>
            </a:pPr>
            <a:r>
              <a:t>10x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37744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A1A1A"/>
                </a:solidFill>
                <a:latin typeface="SimHei"/>
              </a:defRPr>
            </a:pPr>
            <a:r>
              <a:t>商机响应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83464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5D636E"/>
                </a:solidFill>
                <a:latin typeface="SimHei"/>
              </a:defRPr>
            </a:pPr>
            <a:r>
              <a:t>分钟级预警推送</a:t>
            </a:r>
            <a:br/>
            <a:r>
              <a:t>第一时间触发跟进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A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00A39D"/>
                </a:solidFill>
                <a:latin typeface="SimHei"/>
              </a:defRPr>
            </a:pPr>
            <a:r>
              <a:t>Intelligence Web 不是成本中心，而是收入引擎：</a:t>
            </a:r>
            <a:br/>
            <a:r>
              <a:t>预计为中型企业带来额外 50-100 万年收入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0800"/>
          </a:xfrm>
          <a:prstGeom prst="roundRect">
            <a:avLst>
              <a:gd name="adj" fmla="val 50000"/>
            </a:avLst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1A1A"/>
                </a:solidFill>
                <a:latin typeface="SimHei"/>
              </a:defRPr>
            </a:pPr>
            <a:r>
              <a:t>ROI 分析：投资回报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5/18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046720" cy="2.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560320"/>
                <a:gridCol w="1554480"/>
              </a:tblGrid>
              <a:tr h="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项目</a:t>
                      </a:r>
                    </a:p>
                  </a:txBody>
                  <a:tcPr anchor="ctr"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传统方案</a:t>
                      </a:r>
                    </a:p>
                  </a:txBody>
                  <a:tcPr anchor="ctr"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Intelligence Web</a:t>
                      </a:r>
                    </a:p>
                  </a:txBody>
                  <a:tcPr anchor="ctr"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节省</a:t>
                      </a:r>
                    </a:p>
                  </a:txBody>
                  <a:tcPr anchor="ctr">
                    <a:solidFill>
                      <a:srgbClr val="002E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数据库许可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Oracle/PostgreSQL</a:t>
                      </a:r>
                    </a:p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年费 10-50 万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SQLite 单文件</a:t>
                      </a:r>
                    </a:p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零许可费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100% 节省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运维人力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专职 DBA + DevOps</a:t>
                      </a:r>
                    </a:p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年成本 30-60 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容器化一键部署</a:t>
                      </a:r>
                    </a:p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无需专人运维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省去 1 个全职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框架许可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React/Angular 企业版</a:t>
                      </a:r>
                    </a:p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BI 工具许可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Vanilla JS + Flask</a:t>
                      </a:r>
                    </a:p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全部开源免费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100% 节省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部署周期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数周至数月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docker compose up -d</a:t>
                      </a:r>
                    </a:p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分钟级上线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90%+ 时间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918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A1A1A"/>
                </a:solidFill>
                <a:latin typeface="SimHei"/>
              </a:defRPr>
            </a:pPr>
            <a:r>
              <a:t>收益量化（中型企业销售团队）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39"/>
            <a:ext cx="4389120" cy="438912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840479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56DB"/>
                </a:solidFill>
                <a:latin typeface="SimHei"/>
              </a:defRPr>
            </a:pPr>
            <a:r>
              <a:t>人力释放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840479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SimHei"/>
              </a:defRPr>
            </a:pPr>
            <a:r>
              <a:t>AI 替代 1-2 小时/天 → 相当于 0.5-1 个全职人力释放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51959"/>
            <a:ext cx="4389120" cy="438912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A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43399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A39D"/>
                </a:solidFill>
                <a:latin typeface="SimHei"/>
              </a:defRPr>
            </a:pPr>
            <a:r>
              <a:t>新增收入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343399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SimHei"/>
              </a:defRPr>
            </a:pPr>
            <a:r>
              <a:t>转化率提升 20% + 周期缩短 20% → 额外 50-100 万年收入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54879"/>
            <a:ext cx="4389120" cy="438912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5D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846319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5D636E"/>
                </a:solidFill>
                <a:latin typeface="SimHei"/>
              </a:defRPr>
            </a:pPr>
            <a:r>
              <a:t>部署成本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846319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SimHei"/>
              </a:defRPr>
            </a:pPr>
            <a:r>
              <a:t>几乎为零（开源 + 自有服务器即可运行）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57800"/>
            <a:ext cx="4389120" cy="438912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C0392B"/>
                </a:solidFill>
                <a:latin typeface="SimHei"/>
              </a:defRPr>
            </a:pPr>
            <a:r>
              <a:t>回报周期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34924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SimHei"/>
              </a:defRPr>
            </a:pPr>
            <a:r>
              <a:t>1-3 个月即可收回全部投资成本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4747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A39D"/>
                </a:solidFill>
                <a:latin typeface="Arial"/>
              </a:defRPr>
            </a:pPr>
            <a:r>
              <a:t>1-3</a:t>
            </a:r>
          </a:p>
          <a:p>
            <a:pPr algn="ctr">
              <a:spcBef>
                <a:spcPts val="600"/>
              </a:spcBef>
              <a:defRPr sz="1600">
                <a:solidFill>
                  <a:srgbClr val="5D636E"/>
                </a:solidFill>
                <a:latin typeface="SimHei"/>
              </a:defRPr>
            </a:pPr>
            <a:r>
              <a:t>个月</a:t>
            </a:r>
            <a:br/>
            <a:r>
              <a:t>投资回报周期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08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1A1A"/>
                </a:solidFill>
                <a:latin typeface="SimHei"/>
              </a:defRPr>
            </a:pPr>
            <a:r>
              <a:t>技术架构：共享内核 + 分离领域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6/18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097280"/>
            <a:ext cx="3657600" cy="6400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2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11887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002E5D"/>
                </a:solidFill>
                <a:latin typeface="SimHei"/>
              </a:defRPr>
            </a:pPr>
            <a:r>
              <a:t>🖥 客户端层</a:t>
            </a:r>
            <a:br/>
            <a:r>
              <a:t>浏览器 Portal SPA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78308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9599A0"/>
                </a:solidFill>
                <a:latin typeface="SimHei"/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103120"/>
            <a:ext cx="4572000" cy="6400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A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1945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00A39D"/>
                </a:solidFill>
                <a:latin typeface="SimHei"/>
              </a:defRPr>
            </a:pPr>
            <a:r>
              <a:t>🔀 网关层</a:t>
            </a:r>
            <a:br/>
            <a:r>
              <a:t>Nginx 反向代理 + JWT 鉴权 :8765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7889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9599A0"/>
                </a:solidFill>
                <a:latin typeface="SimHei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3657600" cy="6400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2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002E5D"/>
                </a:solidFill>
                <a:latin typeface="SimHei"/>
              </a:defRPr>
            </a:pPr>
            <a:r>
              <a:t>⚙️ 制造情报 API</a:t>
            </a:r>
            <a:br/>
            <a:r>
              <a:t>Flask + Python 3.11 :8766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3108960"/>
            <a:ext cx="3657600" cy="6400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A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32004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00A39D"/>
                </a:solidFill>
                <a:latin typeface="SimHei"/>
              </a:defRPr>
            </a:pPr>
            <a:r>
              <a:t>⚙️ 销售情报 API</a:t>
            </a:r>
            <a:br/>
            <a:r>
              <a:t>Gunicorn + Python 3.11 :8767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79476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9599A0"/>
                </a:solidFill>
                <a:latin typeface="SimHei"/>
              </a:defRPr>
            </a:pPr>
            <a: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9476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9599A0"/>
                </a:solidFill>
                <a:latin typeface="SimHei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114800"/>
            <a:ext cx="6400800" cy="6400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2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002E5D"/>
                </a:solidFill>
                <a:latin typeface="SimHei"/>
              </a:defRPr>
            </a:pPr>
            <a:r>
              <a:t>🧠 共享核心引擎 core/</a:t>
            </a:r>
            <a:br/>
            <a:r>
              <a:t>app.py · db.py · datasource.py · project.py · domain.py · target_types.py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02920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A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1206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00A39D"/>
                </a:solidFill>
                <a:latin typeface="SimHei"/>
              </a:defRPr>
            </a:pPr>
            <a:r>
              <a:t>💾 SQLite</a:t>
            </a:r>
            <a:br/>
            <a:r>
              <a:t>research.db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502920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A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51206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00A39D"/>
                </a:solidFill>
                <a:latin typeface="SimHei"/>
              </a:defRPr>
            </a:pPr>
            <a:r>
              <a:t>💾 SQLite</a:t>
            </a:r>
            <a:br/>
            <a:r>
              <a:t>sales.db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502920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2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51206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002E5D"/>
                </a:solidFill>
                <a:latin typeface="SimHei"/>
              </a:defRPr>
            </a:pPr>
            <a:r>
              <a:t>🔍 Meilisearch</a:t>
            </a:r>
            <a:br/>
            <a:r>
              <a:t>全文检索 :7700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607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1A1A"/>
                </a:solidFill>
                <a:latin typeface="SimHei"/>
              </a:defRPr>
            </a:pPr>
            <a:r>
              <a:t>关键架构原则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35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1A1A1A"/>
                </a:solidFill>
                <a:latin typeface="SimHei"/>
              </a:defRPr>
            </a:pPr>
            <a:r>
              <a:t>[共享] 所有业务域通过 Docker Volume 挂载同一 core/ 目录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55079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1A1A1A"/>
                </a:solidFill>
                <a:latin typeface="SimHei"/>
              </a:defRPr>
            </a:pPr>
            <a:r>
              <a:t>[分离] 各域数据完全隔离，通过 SQLite 独立文件实现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6751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1A1A1A"/>
                </a:solidFill>
                <a:latin typeface="SimHei"/>
              </a:defRPr>
            </a:pPr>
            <a:r>
              <a:t>[接口] 18 个 MCP 工具方法，AI Agent 标准化协议访问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995159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1A1A1A"/>
                </a:solidFill>
                <a:latin typeface="SimHei"/>
              </a:defRPr>
            </a:pPr>
            <a:r>
              <a:t>[轻量] 零外部依赖 — 除 Meilisearch 外无需额外服务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0800"/>
          </a:xfrm>
          <a:prstGeom prst="roundRect">
            <a:avLst>
              <a:gd name="adj" fmla="val 50000"/>
            </a:avLst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1A1A"/>
                </a:solidFill>
                <a:latin typeface="SimHei"/>
              </a:defRPr>
            </a:pPr>
            <a:r>
              <a:t>技术栈详解：极简而强大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7/18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7955280" cy="3.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097280"/>
                <a:gridCol w="4114800"/>
              </a:tblGrid>
              <a:tr h="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服务</a:t>
                      </a:r>
                    </a:p>
                  </a:txBody>
                  <a:tcPr anchor="ctr"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技术栈</a:t>
                      </a:r>
                    </a:p>
                  </a:txBody>
                  <a:tcPr anchor="ctr"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版本</a:t>
                      </a:r>
                    </a:p>
                  </a:txBody>
                  <a:tcPr anchor="ctr"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002E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Research API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Flask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Python 3.11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制造情报业务引擎，轻量级 Web 框架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Sales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Gunicorn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Python 3.11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销售情报业务引擎，生产级 WSGI 服务器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Gateway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Nginx Alpine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Alpine Linux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反向代理 + JWT 鉴权网关，统一入口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Meilisearch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v1.12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全文检索引擎，支持中英文混合搜索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Database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SQLite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单文件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零配置数据库，开箱即用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Portal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Vanilla JS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HTML/CSS/JS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纯前端，15 个功能页面，零框架依赖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AI 接口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MCP Server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JSON-RPC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18 个工具方法，AI Agent 标准化协议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029200"/>
            <a:ext cx="8229600" cy="7315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2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002E5D"/>
                </a:solidFill>
                <a:latin typeface="SimHei"/>
              </a:defRPr>
            </a:pPr>
            <a:r>
              <a:t>极简技术栈，经过充分验证，稳定可靠且易于维护</a:t>
            </a:r>
            <a:br/>
            <a:r>
              <a:t>无需 DBA，无需 DevOps，一条命令即可启动整套系统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19/18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0800"/>
          </a:xfrm>
          <a:prstGeom prst="roundRect">
            <a:avLst>
              <a:gd name="adj" fmla="val 50000"/>
            </a:avLst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1A1A"/>
                </a:solidFill>
                <a:latin typeface="SimHei"/>
              </a:defRPr>
            </a:pPr>
            <a:r>
              <a:t>AI 协作：人与机的高效飞轮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7/18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" y="109728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1234440" cy="381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463040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56DB"/>
                </a:solidFill>
                <a:latin typeface="SimHei"/>
              </a:defRPr>
            </a:pPr>
            <a: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874519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A1A1A"/>
                </a:solidFill>
                <a:latin typeface="SimHei"/>
              </a:defRPr>
            </a:pPr>
            <a:r>
              <a:t>AI 自动巡检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28600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5D636E"/>
                </a:solidFill>
                <a:latin typeface="SimHei"/>
              </a:defRPr>
            </a:pPr>
            <a:r>
              <a:t>每日自动扫描</a:t>
            </a:r>
            <a:br/>
            <a:r>
              <a:t>指定数据源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7373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9599A0"/>
                </a:solidFill>
                <a:latin typeface="Sim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109728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A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57399" y="1280160"/>
            <a:ext cx="1234440" cy="38100"/>
          </a:xfrm>
          <a:prstGeom prst="roundRect">
            <a:avLst>
              <a:gd name="adj" fmla="val 50000"/>
            </a:avLst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59" y="1463040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00A39D"/>
                </a:solidFill>
                <a:latin typeface="SimHei"/>
              </a:defRPr>
            </a:pPr>
            <a:r>
              <a:t>[2]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59" y="1874519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A1A1A"/>
                </a:solidFill>
                <a:latin typeface="SimHei"/>
              </a:defRPr>
            </a:pPr>
            <a:r>
              <a:t>AI 分析归类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59" y="228600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5D636E"/>
                </a:solidFill>
                <a:latin typeface="SimHei"/>
              </a:defRPr>
            </a:pPr>
            <a:r>
              <a:t>对采集内容</a:t>
            </a:r>
            <a:br/>
            <a:r>
              <a:t>进行初步分析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19" y="17373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9599A0"/>
                </a:solidFill>
                <a:latin typeface="Sim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109728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2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0" y="1280160"/>
            <a:ext cx="1234440" cy="38100"/>
          </a:xfrm>
          <a:prstGeom prst="roundRect">
            <a:avLst>
              <a:gd name="adj" fmla="val 50000"/>
            </a:avLst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1463040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002E5D"/>
                </a:solidFill>
                <a:latin typeface="SimHei"/>
              </a:defRPr>
            </a:pPr>
            <a:r>
              <a:t>[3]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1874519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A1A1A"/>
                </a:solidFill>
                <a:latin typeface="SimHei"/>
              </a:defRPr>
            </a:pPr>
            <a:r>
              <a:t>AI 留下建议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228600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5D636E"/>
                </a:solidFill>
                <a:latin typeface="SimHei"/>
              </a:defRPr>
            </a:pPr>
            <a:r>
              <a:t>在每条情报下</a:t>
            </a:r>
            <a:br/>
            <a:r>
              <a:t>留下观察建议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17373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9599A0"/>
                </a:solidFill>
                <a:latin typeface="SimHe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79" y="109728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23559" y="1280160"/>
            <a:ext cx="1234440" cy="381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19" y="1463040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C0392B"/>
                </a:solidFill>
                <a:latin typeface="SimHei"/>
              </a:defRPr>
            </a:pPr>
            <a:r>
              <a:t>[4]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19" y="1874519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A1A1A"/>
                </a:solidFill>
                <a:latin typeface="SimHei"/>
              </a:defRPr>
            </a:pPr>
            <a:r>
              <a:t>人类决策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19" y="228600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5D636E"/>
                </a:solidFill>
                <a:latin typeface="SimHei"/>
              </a:defRPr>
            </a:pPr>
            <a:r>
              <a:t>做出最终判断</a:t>
            </a:r>
            <a:br/>
            <a:r>
              <a:t>和行动决策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17373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9599A0"/>
                </a:solidFill>
                <a:latin typeface="SimHe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59" y="109728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06639" y="1280160"/>
            <a:ext cx="1234440" cy="381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199" y="1463040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56DB"/>
                </a:solidFill>
                <a:latin typeface="SimHei"/>
              </a:defRPr>
            </a:pPr>
            <a:r>
              <a:t>[5]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199" y="1874519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A1A1A"/>
                </a:solidFill>
                <a:latin typeface="SimHei"/>
              </a:defRPr>
            </a:pPr>
            <a:r>
              <a:t>反馈训练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199" y="228600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5D636E"/>
                </a:solidFill>
                <a:latin typeface="SimHei"/>
              </a:defRPr>
            </a:pPr>
            <a:r>
              <a:t>人类反馈</a:t>
            </a:r>
            <a:br/>
            <a:r>
              <a:t>反哺 AI 提升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926080"/>
            <a:ext cx="8229600" cy="13716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A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10896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1A1A1A"/>
                </a:solidFill>
                <a:latin typeface="SimHei"/>
              </a:defRPr>
            </a:pPr>
            <a:r>
              <a:t>这不是一个"录入工具"，是让人类和 AI Agent 共同工作的平台。</a:t>
            </a:r>
            <a:br/>
            <a:r>
              <a:t>每一次人工反馈都在训练 AI，形成正向飞轮效应，让系统越用越聪明。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19/18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0800"/>
          </a:xfrm>
          <a:prstGeom prst="roundRect">
            <a:avLst>
              <a:gd name="adj" fmla="val 50000"/>
            </a:avLst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1A1A"/>
                </a:solidFill>
                <a:latin typeface="SimHei"/>
              </a:defRPr>
            </a:pPr>
            <a:r>
              <a:t>场景演示：制造情报 — "看见趋势"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8/18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A39D"/>
                </a:solidFill>
                <a:latin typeface="SimHei"/>
              </a:defRPr>
            </a:pPr>
            <a:r>
              <a:t>核心数据流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931920" cy="8686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50800" cy="274320"/>
          </a:xfrm>
          <a:prstGeom prst="roundRect">
            <a:avLst>
              <a:gd name="adj" fmla="val 50000"/>
            </a:avLst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474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SimHei"/>
              </a:defRPr>
            </a:pPr>
            <a:r>
              <a:t>竞品发布新产品 → AI 5 分钟内捕获、摘要、推送预警，销售团队第一时间获知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3931920" cy="8686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50800" cy="274320"/>
          </a:xfrm>
          <a:prstGeom prst="roundRect">
            <a:avLst>
              <a:gd name="adj" fmla="val 50000"/>
            </a:avLst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3474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SimHei"/>
              </a:defRPr>
            </a:pPr>
            <a:r>
              <a:t>国家发布智能制造补贴政策 → 自动抓取、分析、标记关联度，战略部门快速响应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3931920" cy="8686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50800" cy="274320"/>
          </a:xfrm>
          <a:prstGeom prst="roundRect">
            <a:avLst>
              <a:gd name="adj" fmla="val 50000"/>
            </a:avLst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3474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SimHei"/>
              </a:defRPr>
            </a:pPr>
            <a:r>
              <a:t>行业论坛讨论下一代工艺 → 实时追踪、归类、形成趋势报告，研发部门提前布局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A39D"/>
                </a:solidFill>
                <a:latin typeface="SimHei"/>
              </a:defRPr>
            </a:pPr>
            <a:r>
              <a:t>价值体现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1645920"/>
            <a:ext cx="3840480" cy="8686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82880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SimHei"/>
              </a:defRPr>
            </a:pPr>
            <a:r>
              <a:t>[✓] 实时监控竞品产品线调整和产能扩张计划，掌握市场主动权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651760"/>
            <a:ext cx="3840480" cy="8686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83464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SimHei"/>
              </a:defRPr>
            </a:pPr>
            <a:r>
              <a:t>[✓] 预判下一代制造技术的商业化时间表，提前布局研发资源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657600"/>
            <a:ext cx="3840480" cy="8686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84048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SimHei"/>
              </a:defRPr>
            </a:pPr>
            <a:r>
              <a:t>[✓] 从"事后追悔"到"事前预判"，将情报转化为战略优势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8229600" cy="7315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A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93776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00A39D"/>
                </a:solidFill>
                <a:latin typeface="SimHei"/>
              </a:defRPr>
            </a:pPr>
            <a:r>
              <a:t>看见趋势 · 看见未来 · 看见机会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08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1A1A"/>
                </a:solidFill>
                <a:latin typeface="SimHei"/>
              </a:defRPr>
            </a:pPr>
            <a:r>
              <a:t>场景演示：销售情报 — "抓住机会"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9/18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09728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731520" cy="508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1A56DB"/>
                </a:solidFill>
                <a:latin typeface="SimHei"/>
              </a:defRPr>
            </a:pPr>
            <a:r>
              <a:t>[目标]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1A1A"/>
                </a:solidFill>
                <a:latin typeface="SimHei"/>
              </a:defRPr>
            </a:pPr>
            <a:r>
              <a:t>客户扩产预警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D636E"/>
                </a:solidFill>
                <a:latin typeface="SimHei"/>
              </a:defRPr>
            </a:pPr>
            <a:r>
              <a:t>客户宣布扩产 → 第一时间触发跟进流程</a:t>
            </a:r>
            <a:br/>
            <a:r>
              <a:t>销售主管立即安排拜访，抢占先机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09728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280160"/>
            <a:ext cx="731520" cy="508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5544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C0392B"/>
                </a:solidFill>
                <a:latin typeface="SimHei"/>
              </a:defRPr>
            </a:pPr>
            <a:r>
              <a:t>[工厂]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1031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1A1A"/>
                </a:solidFill>
                <a:latin typeface="SimHei"/>
              </a:defRPr>
            </a:pPr>
            <a:r>
              <a:t>竞对投资信号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65176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D636E"/>
                </a:solidFill>
                <a:latin typeface="SimHei"/>
              </a:defRPr>
            </a:pPr>
            <a:r>
              <a:t>竞争对手新建工厂前就被捕捉到投资信号</a:t>
            </a:r>
            <a:br/>
            <a:r>
              <a:t>提前准备应对策略，掌握主动权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09728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280160"/>
            <a:ext cx="731520" cy="50800"/>
          </a:xfrm>
          <a:prstGeom prst="roundRect">
            <a:avLst>
              <a:gd name="adj" fmla="val 50000"/>
            </a:avLst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5544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00A39D"/>
                </a:solidFill>
                <a:latin typeface="SimHei"/>
              </a:defRPr>
            </a:pPr>
            <a:r>
              <a:t>[趋势]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031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1A1A"/>
                </a:solidFill>
                <a:latin typeface="SimHei"/>
              </a:defRPr>
            </a:pPr>
            <a:r>
              <a:t>商机漏斗可视化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65176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D636E"/>
                </a:solidFill>
                <a:latin typeface="SimHei"/>
              </a:defRPr>
            </a:pPr>
            <a:r>
              <a:t>销售主管通过数据看板掌握团队商机漏斗健康度</a:t>
            </a:r>
            <a:br/>
            <a:r>
              <a:t>及时发现瓶颈，优化销售流程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49039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A1A1A"/>
                </a:solidFill>
                <a:latin typeface="SimHei"/>
              </a:defRPr>
            </a:pPr>
            <a:r>
              <a:t>商机全生命周期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" y="4206240"/>
            <a:ext cx="1554480" cy="457200"/>
          </a:xfrm>
          <a:prstGeom prst="roundRect">
            <a:avLst>
              <a:gd name="adj" fmla="val 35000"/>
            </a:avLst>
          </a:prstGeom>
          <a:solidFill>
            <a:srgbClr val="95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imHei"/>
              </a:defRPr>
            </a:pPr>
            <a:r>
              <a:t>待核实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1605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9599A0"/>
                </a:solidFill>
                <a:latin typeface="SimHe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20240" y="4206240"/>
            <a:ext cx="1554480" cy="457200"/>
          </a:xfrm>
          <a:prstGeom prst="roundRect">
            <a:avLst>
              <a:gd name="adj" fmla="val 35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imHei"/>
              </a:defRPr>
            </a:pPr>
            <a:r>
              <a:t>合格商机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1605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9599A0"/>
                </a:solidFill>
                <a:latin typeface="SimHe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4206240"/>
            <a:ext cx="1554480" cy="457200"/>
          </a:xfrm>
          <a:prstGeom prst="roundRect">
            <a:avLst>
              <a:gd name="adj" fmla="val 35000"/>
            </a:avLst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imHei"/>
              </a:defRPr>
            </a:pPr>
            <a:r>
              <a:t>方案报价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41605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9599A0"/>
                </a:solidFill>
                <a:latin typeface="SimHe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59" y="4206240"/>
            <a:ext cx="1554480" cy="457200"/>
          </a:xfrm>
          <a:prstGeom prst="roundRect">
            <a:avLst>
              <a:gd name="adj" fmla="val 35000"/>
            </a:avLst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imHei"/>
              </a:defRPr>
            </a:pPr>
            <a:r>
              <a:t>商务谈判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39" y="41605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9599A0"/>
                </a:solidFill>
                <a:latin typeface="SimHe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0" y="4206240"/>
            <a:ext cx="1554480" cy="457200"/>
          </a:xfrm>
          <a:prstGeom prst="roundRect">
            <a:avLst>
              <a:gd name="adj" fmla="val 35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1A"/>
                </a:solidFill>
                <a:latin typeface="SimHei"/>
              </a:defRPr>
            </a:pPr>
            <a:r>
              <a:t>成交/丢标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19/18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0800"/>
          </a:xfrm>
          <a:prstGeom prst="roundRect">
            <a:avLst>
              <a:gd name="adj" fmla="val 50000"/>
            </a:avLst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1A1A"/>
                </a:solidFill>
                <a:latin typeface="SimHei"/>
              </a:defRPr>
            </a:pPr>
            <a:r>
              <a:t>扩展性：共享内核 + 任意域扩展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10/18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2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63500" cy="822960"/>
          </a:xfrm>
          <a:prstGeom prst="roundRect">
            <a:avLst>
              <a:gd name="adj" fmla="val 50000"/>
            </a:avLst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  <a:latin typeface="SimHei"/>
              </a:defRPr>
            </a:pPr>
            <a:r>
              <a:t>平台不设固定的业务边界，客户需要什么领域，就搭建什么领域</a:t>
            </a:r>
            <a:br/>
            <a:r>
              <a:t>从提出需求到新域可用，最快数天内完成交付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00A39D"/>
                </a:solidFill>
                <a:latin typeface="SimHei"/>
              </a:defRPr>
            </a:pPr>
            <a:r>
              <a:t>已验证领域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A1A1A"/>
                </a:solidFill>
                <a:latin typeface="SimHei"/>
              </a:defRPr>
            </a:pPr>
            <a:r>
              <a:t>[✓] 制造情报 — "看见趋势"</a:t>
            </a:r>
            <a:br/>
            <a:r>
              <a:t>面向技术研发与市场战略部门</a:t>
            </a:r>
            <a:br/>
            <a:r>
              <a:t>系统性追踪行业前沿动态</a:t>
            </a:r>
            <a:br/>
            <a:br/>
            <a:r>
              <a:t>[✓] 销售情报 — "抓住机会"</a:t>
            </a:r>
            <a:br/>
            <a:r>
              <a:t>面向销售和商务团队</a:t>
            </a:r>
            <a:br/>
            <a:r>
              <a:t>驱动业绩增长的实战利器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A56DB"/>
                </a:solidFill>
                <a:latin typeface="SimHei"/>
              </a:defRPr>
            </a:pPr>
            <a:r>
              <a:t>可快速扩展领域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4320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A1A1A"/>
                </a:solidFill>
                <a:latin typeface="SimHei"/>
              </a:defRPr>
            </a:pPr>
            <a:r>
              <a:t>[链接] 供应链管理 — 寻源、评估、批准、监控，全链路可视化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3832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A1A1A"/>
                </a:solidFill>
                <a:latin typeface="SimHei"/>
              </a:defRPr>
            </a:pPr>
            <a:r>
              <a:t>[文档] 知识产权监控 — 专利追踪、侵权预警，保护核心资产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02336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A1A1A"/>
                </a:solidFill>
                <a:latin typeface="SimHei"/>
              </a:defRPr>
            </a:pPr>
            <a:r>
              <a:t>[银行] 金融市场追踪 — 投融资动态、并购重组信号，把握市场脉搏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66344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A1A1A"/>
                </a:solidFill>
                <a:latin typeface="SimHei"/>
              </a:defRPr>
            </a:pPr>
            <a:r>
              <a:t>[人群] 人力资源情报 — 竞对人事变动、人才流动趋势，优化组织策略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572000"/>
            <a:ext cx="6400800" cy="7315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A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66344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00A39D"/>
                </a:solidFill>
                <a:latin typeface="SimHei"/>
              </a:defRPr>
            </a:pPr>
            <a:r>
              <a:t>一份配置文件 + 一个前端模板 → 数天内上线新域</a:t>
            </a:r>
            <a:br/>
            <a:r>
              <a:t>所有通用逻辑都已收敛在共享内核中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19/18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0800"/>
          </a:xfrm>
          <a:prstGeom prst="roundRect">
            <a:avLst>
              <a:gd name="adj" fmla="val 50000"/>
            </a:avLst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1A1A"/>
                </a:solidFill>
                <a:latin typeface="SimHei"/>
              </a:defRPr>
            </a:pPr>
            <a:r>
              <a:t>安全合规：企业级安全内置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11/18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503920" cy="3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486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安全维度</a:t>
                      </a:r>
                    </a:p>
                  </a:txBody>
                  <a:tcPr anchor="ctr">
                    <a:solidFill>
                      <a:srgbClr val="00A39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实现方式</a:t>
                      </a:r>
                    </a:p>
                  </a:txBody>
                  <a:tcPr anchor="ctr">
                    <a:solidFill>
                      <a:srgbClr val="00A39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安全等级</a:t>
                      </a:r>
                    </a:p>
                  </a:txBody>
                  <a:tcPr anchor="ctr">
                    <a:solidFill>
                      <a:srgbClr val="00A39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认证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JWT Bearer Token（HS256），密码 SHA-256 + 随机盐存储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企业级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密钥保护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API Key / Agent Key 落地 XOR 混淆，API 响应中脱敏为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CORS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环境变量严格白名单控制允许来源域名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RBAC 权限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Admin / Manager / Analyst / Viewer 四级角色，精细到菜单级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企业级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审计日志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所有变更操作记录操作人身份和时间戳，满足合规追溯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企业级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114800"/>
            <a:ext cx="8229600" cy="82296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A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00A39D"/>
                </a:solidFill>
                <a:latin typeface="SimHei"/>
              </a:defRPr>
            </a:pPr>
            <a:r>
              <a:t>每一个操作都被记录 · 每一个密钥都被保护 · 每一次访问都有据可查</a:t>
            </a:r>
            <a:br/>
            <a:r>
              <a:t>满足 SOC2、ISO27001 等合规要求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19/18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08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1A1A"/>
                </a:solidFill>
                <a:latin typeface="SimHei"/>
              </a:defRPr>
            </a:pPr>
            <a:r>
              <a:t>技术优势：轻而不薄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12/18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8503920" cy="3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60320"/>
                <a:gridCol w="2560320"/>
                <a:gridCol w="2011680"/>
              </a:tblGrid>
              <a:tr h="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传统方案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Intelligence Web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优势说明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数据库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Oracle/PostgreSQL</a:t>
                      </a:r>
                    </a:p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年费 10-50 万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SQLite 单文件</a:t>
                      </a:r>
                    </a:p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零许可费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节省 100% 数据库成本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运维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专职 DBA + DevOps</a:t>
                      </a:r>
                    </a:p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年成本 30-60 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容器化一键部署</a:t>
                      </a:r>
                    </a:p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无需专人运维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省去 1 个全职岗位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框架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React/Angular 企业版</a:t>
                      </a:r>
                    </a:p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BI 工具许可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Vanilla JS + Flask</a:t>
                      </a:r>
                    </a:p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全部开源免费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节省 100% 框架成本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部署周期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数周至数月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docker compose up -d</a:t>
                      </a:r>
                    </a:p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分钟级上线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缩短 90%+ 部署时间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扩展性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改代码、重新部署</a:t>
                      </a:r>
                    </a:p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测试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配置文件 + 前端模板</a:t>
                      </a:r>
                    </a:p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数天上线新域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敏捷迭代，快速响应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749039"/>
            <a:ext cx="8229600" cy="7315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56DB"/>
                </a:solidFill>
                <a:latin typeface="SimHei"/>
              </a:defRPr>
            </a:pPr>
            <a:r>
              <a:t>你不需要再养一个团队来维护这套系统</a:t>
            </a:r>
            <a:br/>
            <a:r>
              <a:t>极简架构，让技术团队专注业务创新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19/18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08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1A1A"/>
                </a:solidFill>
                <a:latin typeface="SimHei"/>
              </a:defRPr>
            </a:pPr>
            <a:r>
              <a:t>竞品对比：为什么不是 CRM？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13/18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97280"/>
          <a:ext cx="8138160" cy="3.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554480"/>
                <a:gridCol w="1554480"/>
                <a:gridCol w="1371600"/>
                <a:gridCol w="2286000"/>
              </a:tblGrid>
              <a:tr h="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通用 CRM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OA 系统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Excel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Intelligence Web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定位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客户关系管理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办公流程管理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临时记录工具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企业情报智能管理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信息采集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无自动采集功能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无自动采集功能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手动录入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AI 自动采集 + 增量同步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AI 分析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无 AI 分析能力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无 AI 分析能力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无 AI 分析能力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AI Agent 自动摘要分析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多域扩展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固定功能模块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固定功能模块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手动搭建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配置文件数天上线新域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部署成本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百万级许可证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十万级实施费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低但无法规模化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几乎为零（开源）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情报深度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浅（联系人 + 商机）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浅（审批流程）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SimHei"/>
                        </a:defRPr>
                      </a:pPr>
                      <a:r>
                        <a:t>深（采集→分析→预警→行动）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572000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2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63500" cy="914400"/>
          </a:xfrm>
          <a:prstGeom prst="roundRect">
            <a:avLst>
              <a:gd name="adj" fmla="val 50000"/>
            </a:avLst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680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002E5D"/>
                </a:solidFill>
                <a:latin typeface="SimHei"/>
              </a:defRPr>
            </a:pPr>
            <a:r>
              <a:t>Intelligence Web 只做一件事：帮企业把散落在各处的情报变成可行动的洞察。</a:t>
            </a:r>
            <a:br/>
            <a:r>
              <a:t>为此做了极深的垂直打磨，这是通用 CRM 和 OA 系统无法做到的。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19/18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0800"/>
          </a:xfrm>
          <a:prstGeom prst="roundRect">
            <a:avLst>
              <a:gd name="adj" fmla="val 50000"/>
            </a:avLst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1A1A"/>
                </a:solidFill>
                <a:latin typeface="SimHei"/>
              </a:defRPr>
            </a:pPr>
            <a:r>
              <a:t>适用人群：为谁而建？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14/18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097280"/>
            <a:ext cx="2651760" cy="4572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731520" cy="508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1A1A1A"/>
                </a:solidFill>
                <a:latin typeface="SimHei"/>
              </a:defRPr>
            </a:pPr>
            <a:r>
              <a:t>一线销售/商务经理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D636E"/>
                </a:solidFill>
                <a:latin typeface="SimHei"/>
              </a:defRPr>
            </a:pPr>
            <a:r>
              <a:t>比竞对更快知道客户在哪</a:t>
            </a:r>
            <a:br/>
            <a:r>
              <a:t>需求是什么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1A56DB"/>
                </a:solidFill>
                <a:latin typeface="SimHei"/>
              </a:defRPr>
            </a:pPr>
            <a:r>
              <a:t>[箭头]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840480"/>
            <a:ext cx="2468880" cy="1280160"/>
          </a:xfrm>
          <a:prstGeom prst="roundRect">
            <a:avLst>
              <a:gd name="adj" fmla="val 35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imHei"/>
              </a:defRPr>
            </a:pPr>
            <a:r>
              <a:t>自动预警 + 客户画像 + 商机全追踪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1097280"/>
            <a:ext cx="2651760" cy="4572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A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1280160"/>
            <a:ext cx="731520" cy="50800"/>
          </a:xfrm>
          <a:prstGeom prst="roundRect">
            <a:avLst>
              <a:gd name="adj" fmla="val 50000"/>
            </a:avLst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645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1A1A1A"/>
                </a:solidFill>
                <a:latin typeface="SimHei"/>
              </a:defRPr>
            </a:pPr>
            <a:r>
              <a:t>市场研究/战略规划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2860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D636E"/>
                </a:solidFill>
                <a:latin typeface="SimHei"/>
              </a:defRPr>
            </a:pPr>
            <a:r>
              <a:t>持续扫描行业全貌</a:t>
            </a:r>
            <a:br/>
            <a:r>
              <a:t>形成可指导决策的报告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3832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00A39D"/>
                </a:solidFill>
                <a:latin typeface="SimHei"/>
              </a:defRPr>
            </a:pPr>
            <a:r>
              <a:t>[箭头]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3840480"/>
            <a:ext cx="2468880" cy="1280160"/>
          </a:xfrm>
          <a:prstGeom prst="roundRect">
            <a:avLst>
              <a:gd name="adj" fmla="val 35000"/>
            </a:avLst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imHei"/>
              </a:defRPr>
            </a:pPr>
            <a:r>
              <a:t>多渠道采集 + AI 分析 + 趋势可视化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097280"/>
            <a:ext cx="2651760" cy="4572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1280160"/>
            <a:ext cx="731520" cy="508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645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1A1A1A"/>
                </a:solidFill>
                <a:latin typeface="SimHei"/>
              </a:defRPr>
            </a:pPr>
            <a:r>
              <a:t>企业管理者/决策层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2860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D636E"/>
                </a:solidFill>
                <a:latin typeface="SimHei"/>
              </a:defRPr>
            </a:pPr>
            <a:r>
              <a:t>一眼看清整体状况</a:t>
            </a:r>
            <a:br/>
            <a:r>
              <a:t>不做凭感觉的赌局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3832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C0392B"/>
                </a:solidFill>
                <a:latin typeface="SimHei"/>
              </a:defRPr>
            </a:pPr>
            <a:r>
              <a:t>[箭头]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840480"/>
            <a:ext cx="2468880" cy="1280160"/>
          </a:xfrm>
          <a:prstGeom prst="roundRect">
            <a:avLst>
              <a:gd name="adj" fmla="val 35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imHei"/>
              </a:defRPr>
            </a:pPr>
            <a:r>
              <a:t>数据看板 + AI 摘要 + 组织级公共资产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9599A0"/>
                </a:solidFill>
                <a:latin typeface="SimHei"/>
              </a:defRPr>
            </a:pPr>
            <a:r>
              <a:t>不是给所有人的万能工具 — 是为情报驱动决策的团队量身定制的效率倍增器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19/18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08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1A1A"/>
                </a:solidFill>
                <a:latin typeface="SimHei"/>
              </a:defRPr>
            </a:pPr>
            <a:r>
              <a:t>部署启动：最快数分钟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15/18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731520" cy="508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A56DB"/>
                </a:solidFill>
                <a:latin typeface="SimHei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A56DB"/>
                </a:solidFill>
                <a:latin typeface="SimHei"/>
              </a:defRPr>
            </a:pPr>
            <a:r>
              <a:t>docker compose up -d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5D636E"/>
                </a:solidFill>
                <a:latin typeface="SimHei"/>
              </a:defRPr>
            </a:pPr>
            <a:r>
              <a:t>一条命令启动全部服务</a:t>
            </a:r>
            <a:br/>
            <a:r>
              <a:t>API + Nginx + Meilisearch 一键部署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1031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9599A0"/>
                </a:solidFill>
                <a:latin typeface="Sim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09728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A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1280160"/>
            <a:ext cx="731520" cy="50800"/>
          </a:xfrm>
          <a:prstGeom prst="roundRect">
            <a:avLst>
              <a:gd name="adj" fmla="val 50000"/>
            </a:avLst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645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00A39D"/>
                </a:solidFill>
                <a:latin typeface="SimHei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945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A56DB"/>
                </a:solidFill>
                <a:latin typeface="SimHei"/>
              </a:defRPr>
            </a:pPr>
            <a:r>
              <a:t>浏览器访问 :8765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432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5D636E"/>
                </a:solidFill>
                <a:latin typeface="SimHei"/>
              </a:defRPr>
            </a:pPr>
            <a:r>
              <a:t>登录系统</a:t>
            </a:r>
            <a:br/>
            <a:r>
              <a:t>开始使用 15 个功能页面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1031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9599A0"/>
                </a:solidFill>
                <a:latin typeface="Sim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09728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2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0" y="1280160"/>
            <a:ext cx="731520" cy="50800"/>
          </a:xfrm>
          <a:prstGeom prst="roundRect">
            <a:avLst>
              <a:gd name="adj" fmla="val 50000"/>
            </a:avLst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645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002E5D"/>
                </a:solidFill>
                <a:latin typeface="SimHei"/>
              </a:defRPr>
            </a:pPr>
            <a: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945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A56DB"/>
                </a:solidFill>
                <a:latin typeface="SimHei"/>
              </a:defRPr>
            </a:pPr>
            <a:r>
              <a:t>配置数据源 + 项目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7432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5D636E"/>
                </a:solidFill>
                <a:latin typeface="SimHei"/>
              </a:defRPr>
            </a:pPr>
            <a:r>
              <a:t>开始自动采集</a:t>
            </a:r>
            <a:br/>
            <a:r>
              <a:t>AI Agent 立即工作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233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A56DB"/>
                </a:solidFill>
                <a:latin typeface="SimHei"/>
              </a:defRPr>
            </a:pPr>
            <a:r>
              <a:t>开箱即用的能力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SimHei"/>
              </a:defRPr>
            </a:pPr>
            <a:r>
              <a:t>[✓] 15 个功能页面，即开即用，无需配置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92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SimHei"/>
              </a:defRPr>
            </a:pPr>
            <a:r>
              <a:t>[✓] RBAC 权限体系，三级角色即刻生效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SimHei"/>
              </a:defRPr>
            </a:pPr>
            <a:r>
              <a:t>[✓] AI Agent 预设模板，配置即用，无需训练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150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SimHei"/>
              </a:defRPr>
            </a:pPr>
            <a:r>
              <a:t>[✓] 暗色模式、响应式设计，现代用户体验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SimHei"/>
              </a:defRPr>
            </a:pPr>
            <a:r>
              <a:t>[✓] 新业务域：一份配置 + 一个模板 → 数天内上线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19/18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0800"/>
          </a:xfrm>
          <a:prstGeom prst="roundRect">
            <a:avLst>
              <a:gd name="adj" fmla="val 50000"/>
            </a:avLst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1A1A"/>
                </a:solidFill>
                <a:latin typeface="SimHei"/>
              </a:defRPr>
            </a:pPr>
            <a:r>
              <a:t>投资回报：1-3 个月回本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16/18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A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731520" cy="50800"/>
          </a:xfrm>
          <a:prstGeom prst="roundRect">
            <a:avLst>
              <a:gd name="adj" fmla="val 50000"/>
            </a:avLst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A39D"/>
                </a:solidFill>
                <a:latin typeface="Arial"/>
              </a:defRPr>
            </a:pPr>
            <a:r>
              <a:t>1-3</a:t>
            </a:r>
          </a:p>
          <a:p>
            <a:pPr algn="ctr">
              <a:spcBef>
                <a:spcPts val="600"/>
              </a:spcBef>
              <a:defRPr sz="1600">
                <a:solidFill>
                  <a:srgbClr val="5D636E"/>
                </a:solidFill>
                <a:latin typeface="SimHei"/>
              </a:defRPr>
            </a:pPr>
            <a:r>
              <a:t>个月</a:t>
            </a:r>
            <a:br/>
            <a:r>
              <a:t>投资回报周期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09728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280160"/>
            <a:ext cx="731520" cy="508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6459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56DB"/>
                </a:solidFill>
                <a:latin typeface="Arial"/>
              </a:defRPr>
            </a:pPr>
            <a:r>
              <a:t>50-100</a:t>
            </a:r>
          </a:p>
          <a:p>
            <a:pPr algn="ctr">
              <a:spcBef>
                <a:spcPts val="600"/>
              </a:spcBef>
              <a:defRPr sz="1600">
                <a:solidFill>
                  <a:srgbClr val="5D636E"/>
                </a:solidFill>
                <a:latin typeface="SimHei"/>
              </a:defRPr>
            </a:pPr>
            <a:r>
              <a:t>万</a:t>
            </a:r>
            <a:br/>
            <a:r>
              <a:t>年新增收入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09728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2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280160"/>
            <a:ext cx="731520" cy="50800"/>
          </a:xfrm>
          <a:prstGeom prst="roundRect">
            <a:avLst>
              <a:gd name="adj" fmla="val 50000"/>
            </a:avLst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2E5D"/>
                </a:solidFill>
                <a:latin typeface="Arial"/>
              </a:defRPr>
            </a:pPr>
            <a:r>
              <a:t>0.5-1</a:t>
            </a:r>
          </a:p>
          <a:p>
            <a:pPr algn="ctr">
              <a:spcBef>
                <a:spcPts val="600"/>
              </a:spcBef>
              <a:defRPr sz="1600">
                <a:solidFill>
                  <a:srgbClr val="5D636E"/>
                </a:solidFill>
                <a:latin typeface="SimHei"/>
              </a:defRPr>
            </a:pPr>
            <a:r>
              <a:t>个</a:t>
            </a:r>
            <a:br/>
            <a:r>
              <a:t>全职人力释放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8229600" cy="5486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49039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D636E"/>
                </a:solidFill>
                <a:latin typeface="SimHei"/>
              </a:defRPr>
            </a:pPr>
            <a:r>
              <a:t>基准假设：一名年薪资 20 万的销售人员，平均每月处理 50+ 条商机线索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6227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56DB"/>
                </a:solidFill>
                <a:latin typeface="SimHei"/>
              </a:defRPr>
            </a:pPr>
            <a:r>
              <a:t>人力释放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462272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SimHei"/>
              </a:defRPr>
            </a:pPr>
            <a:r>
              <a:t>AI 替代 1-2 小时/天 → 相当于 0.5-1 个全职人力释放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46320"/>
            <a:ext cx="8229600" cy="4114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A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1947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A39D"/>
                </a:solidFill>
                <a:latin typeface="SimHei"/>
              </a:defRPr>
            </a:pPr>
            <a:r>
              <a:t>新增商机收入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919472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SimHei"/>
              </a:defRPr>
            </a:pPr>
            <a:r>
              <a:t>转化率提升 20% + 销售周期缩短 20% → 额外 50-100 万年收入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03520"/>
            <a:ext cx="8229600" cy="4114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5D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7667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5D636E"/>
                </a:solidFill>
                <a:latin typeface="SimHei"/>
              </a:defRPr>
            </a:pPr>
            <a:r>
              <a:t>系统部署成本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376672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SimHei"/>
              </a:defRPr>
            </a:pPr>
            <a:r>
              <a:t>几乎为零（开源 + 自有服务器即可运行）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760720"/>
            <a:ext cx="8229600" cy="4114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3387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C0392B"/>
                </a:solidFill>
                <a:latin typeface="SimHei"/>
              </a:defRPr>
            </a:pPr>
            <a:r>
              <a:t>投资回报周期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833872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SimHei"/>
              </a:defRPr>
            </a:pPr>
            <a:r>
              <a:t>1-3 个月即可收回全部投资成本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19/18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0800"/>
          </a:xfrm>
          <a:prstGeom prst="roundRect">
            <a:avLst>
              <a:gd name="adj" fmla="val 50000"/>
            </a:avLst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1A1A"/>
                </a:solidFill>
                <a:latin typeface="SimHei"/>
              </a:defRPr>
            </a:pPr>
            <a:r>
              <a:t>行动号召：升级您的企业情报管理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17/18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188720"/>
            <a:ext cx="6400800" cy="5029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261872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002E5D"/>
                </a:solidFill>
                <a:latin typeface="SimHei"/>
              </a:defRPr>
            </a:pPr>
            <a:r>
              <a:t>[网络]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261872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1A1A"/>
                </a:solidFill>
                <a:latin typeface="SimHei"/>
              </a:defRPr>
            </a:pPr>
            <a:r>
              <a:t>开源 · 免费 · 可私有化部署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261872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D636E"/>
                </a:solidFill>
                <a:latin typeface="SimHei"/>
              </a:defRPr>
            </a:pPr>
            <a:r>
              <a:t>零成本启动，数据完全自主可控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783080"/>
            <a:ext cx="6400800" cy="5029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856232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002E5D"/>
                </a:solidFill>
                <a:latin typeface="SimHei"/>
              </a:defRPr>
            </a:pPr>
            <a:r>
              <a:t>[AI]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856232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1A1A"/>
                </a:solidFill>
                <a:latin typeface="SimHei"/>
              </a:defRPr>
            </a:pPr>
            <a:r>
              <a:t>AI 驱动 · 人机协同 · 持续进化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856232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D636E"/>
                </a:solidFill>
                <a:latin typeface="SimHei"/>
              </a:defRPr>
            </a:pPr>
            <a:r>
              <a:t>系统越用越聪明，形成正向飞轮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377440"/>
            <a:ext cx="6400800" cy="5029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450592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002E5D"/>
                </a:solidFill>
                <a:latin typeface="SimHei"/>
              </a:defRPr>
            </a:pPr>
            <a:r>
              <a:t>[图表]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450592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1A1A"/>
                </a:solidFill>
                <a:latin typeface="SimHei"/>
              </a:defRPr>
            </a:pPr>
            <a:r>
              <a:t>1-3 个月投资回报 · 100 万年新增收入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450592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D636E"/>
                </a:solidFill>
                <a:latin typeface="SimHei"/>
              </a:defRPr>
            </a:pPr>
            <a:r>
              <a:t>高杠杆投入，快速收回成本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2971800"/>
            <a:ext cx="6400800" cy="5029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044952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002E5D"/>
                </a:solidFill>
                <a:latin typeface="SimHei"/>
              </a:defRPr>
            </a:pPr>
            <a:r>
              <a:t>[火箭]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044952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1A1A"/>
                </a:solidFill>
                <a:latin typeface="SimHei"/>
              </a:defRPr>
            </a:pPr>
            <a:r>
              <a:t>一条命令启动 · 数天扩展新域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044952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D636E"/>
                </a:solidFill>
                <a:latin typeface="SimHei"/>
              </a:defRPr>
            </a:pPr>
            <a:r>
              <a:t>极简部署，敏捷迭代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3931920"/>
            <a:ext cx="5486400" cy="16459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6350">
            <a:solidFill>
              <a:srgbClr val="00A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411480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00A39D"/>
                </a:solidFill>
                <a:latin typeface="SimHei"/>
              </a:defRPr>
            </a:pPr>
            <a:r>
              <a:t>准备好让您的企业情报管理升级了吗？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8463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5D636E"/>
                </a:solidFill>
                <a:latin typeface="SimHei"/>
              </a:defRPr>
            </a:pPr>
            <a:r>
              <a:t>[官网]  [邮箱]  [电话]  [二维码]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19/18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3500"/>
          </a:xfrm>
          <a:prstGeom prst="roundRect">
            <a:avLst>
              <a:gd name="adj" fmla="val 50000"/>
            </a:avLst>
          </a:prstGeom>
          <a:solidFill>
            <a:srgbClr val="00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4800" b="1">
                <a:solidFill>
                  <a:srgbClr val="1A1A1A"/>
                </a:solidFill>
                <a:latin typeface="SimHei"/>
              </a:defRPr>
            </a:pPr>
            <a:r>
              <a:t>Intelligence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200" b="0">
                <a:solidFill>
                  <a:srgbClr val="1A56DB"/>
                </a:solidFill>
                <a:latin typeface="SimHei"/>
              </a:defRPr>
            </a:pPr>
            <a:r>
              <a:t>让情报成为您的核心竞争力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4023360"/>
            <a:ext cx="1280160" cy="38100"/>
          </a:xfrm>
          <a:prstGeom prst="roundRect">
            <a:avLst>
              <a:gd name="adj" fmla="val 50000"/>
            </a:avLst>
          </a:prstGeom>
          <a:solidFill>
            <a:srgbClr val="00A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400" b="0">
                <a:solidFill>
                  <a:srgbClr val="9599A0"/>
                </a:solidFill>
                <a:latin typeface="SimHei"/>
              </a:defRPr>
            </a:pPr>
            <a:r>
              <a:t>谢谢</a:t>
            </a:r>
            <a:br/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3796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99A0"/>
                </a:solidFill>
                <a:latin typeface="Arial"/>
              </a:defRPr>
            </a:pPr>
            <a:r>
              <a:t>19/18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